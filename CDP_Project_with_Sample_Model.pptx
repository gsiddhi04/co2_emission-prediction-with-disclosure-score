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ileron Bold" panose="020B0604020202020204" charset="0"/>
      <p:regular r:id="rId27"/>
    </p:embeddedFont>
    <p:embeddedFont>
      <p:font typeface="Canva Sans Bold" panose="020B0604020202020204" charset="0"/>
      <p:regular r:id="rId28"/>
    </p:embeddedFont>
    <p:embeddedFont>
      <p:font typeface="Comic Sans Bold" panose="020B0604020202020204" charset="0"/>
      <p:regular r:id="rId29"/>
    </p:embeddedFont>
    <p:embeddedFont>
      <p:font typeface="Montserrat" panose="020F0502020204030204" pitchFamily="2" charset="0"/>
      <p:regular r:id="rId30"/>
    </p:embeddedFont>
    <p:embeddedFont>
      <p:font typeface="Montserrat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40838" y="3894853"/>
            <a:ext cx="14026841" cy="200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8"/>
              </a:lnSpc>
            </a:pPr>
            <a:r>
              <a:rPr lang="en-US" sz="5770" b="1">
                <a:solidFill>
                  <a:srgbClr val="57617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CDP-Based Prediction of Emissions and Disclosure in Indian Cities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8602" y="7774303"/>
            <a:ext cx="2032236" cy="44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8"/>
              </a:lnSpc>
            </a:pPr>
            <a:r>
              <a:rPr lang="en-US" sz="2520" b="1">
                <a:solidFill>
                  <a:srgbClr val="57617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Siddhi Gupta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8602" y="8158054"/>
            <a:ext cx="9738956" cy="45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27"/>
              </a:lnSpc>
            </a:pPr>
            <a:r>
              <a:rPr lang="en-US" sz="2662" b="1">
                <a:solidFill>
                  <a:srgbClr val="57617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Dataset: CDP 2023 – Indian Cities Emissions and Disclosure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71768" y="300704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361497" y="6890415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56644" y="4208661"/>
            <a:ext cx="13062750" cy="553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is mostly on national-level emissions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Indian cities’ climate disclosure behavior is underexplored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Most ML models only predict emissions, not transparency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CDP’s Indian city dataset is rarely used in ML-based research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studies combine forecasting + explainability + policy impact</a:t>
            </a:r>
          </a:p>
          <a:p>
            <a:pPr algn="l">
              <a:lnSpc>
                <a:spcPts val="4928"/>
              </a:lnSpc>
            </a:pPr>
            <a:endParaRPr lang="en-US" sz="32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727191" y="2895030"/>
            <a:ext cx="5522674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Research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71768" y="300704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361497" y="6890415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22966" y="4543458"/>
            <a:ext cx="13062750" cy="430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Uses real CDP 2023 data from Indian cities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Models both CO₂ emissions and disclosure quality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Applies XGBoost for accurate ML prediction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Uses SHAP to make results explainable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Clusters cities for peer benchmarking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Provides insights for policy action</a:t>
            </a:r>
          </a:p>
          <a:p>
            <a:pPr algn="l">
              <a:lnSpc>
                <a:spcPts val="4928"/>
              </a:lnSpc>
            </a:pPr>
            <a:endParaRPr lang="en-US" sz="32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37151" y="2647755"/>
            <a:ext cx="5455144" cy="120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8"/>
              </a:lnSpc>
            </a:pPr>
            <a:r>
              <a:rPr lang="en-US" sz="4400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How my project fills</a:t>
            </a:r>
          </a:p>
          <a:p>
            <a:pPr algn="l">
              <a:lnSpc>
                <a:spcPts val="4708"/>
              </a:lnSpc>
            </a:pPr>
            <a:r>
              <a:rPr lang="en-US" sz="4400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 the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71768" y="300704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361497" y="6890415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22966" y="4141131"/>
            <a:ext cx="13062750" cy="430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Forecast city-level CO₂ emissions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 disclosure transparency (e.g., number of scopes, years reported)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SHAP to explain what drives performance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cities with similar disclosure/emission behavior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Offer actionable insights for climate governance</a:t>
            </a:r>
          </a:p>
          <a:p>
            <a:pPr algn="l">
              <a:lnSpc>
                <a:spcPts val="4928"/>
              </a:lnSpc>
            </a:pPr>
            <a:endParaRPr lang="en-US" sz="32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66794" y="2917382"/>
            <a:ext cx="6244956" cy="778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2"/>
              </a:lnSpc>
            </a:pPr>
            <a:r>
              <a:rPr lang="en-US" sz="5600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71768" y="300704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361497" y="6890415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4288234"/>
            <a:ext cx="13062750" cy="430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on Indian cities — rarely modeled in CDP-based ML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Predicts transparency behavior, not just emissions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Uses explainable ML (SHAP) to support policy-making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Enables peer learning through clustering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Aligns with SDG, ESG, and CDP goals</a:t>
            </a:r>
          </a:p>
          <a:p>
            <a:pPr marL="690881" lvl="1" indent="-345440" algn="l">
              <a:lnSpc>
                <a:spcPts val="4928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Bridges data science with climate governance</a:t>
            </a:r>
          </a:p>
          <a:p>
            <a:pPr algn="l">
              <a:lnSpc>
                <a:spcPts val="4928"/>
              </a:lnSpc>
            </a:pPr>
            <a:endParaRPr lang="en-US" sz="3200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260013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45906" y="2982787"/>
            <a:ext cx="6107935" cy="70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Novel Contributions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3523479"/>
            <a:ext cx="12866225" cy="652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2"/>
              </a:lnSpc>
            </a:pPr>
            <a:r>
              <a:rPr lang="en-US" sz="3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 of the Sample Model</a:t>
            </a:r>
          </a:p>
          <a:p>
            <a:pPr algn="just">
              <a:lnSpc>
                <a:spcPts val="462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validate the feasibility of predicting CO₂ emissions and disclosure quality using machine learning models trained on CDP India city data.</a:t>
            </a:r>
          </a:p>
          <a:p>
            <a:pPr algn="just">
              <a:lnSpc>
                <a:spcPts val="5082"/>
              </a:lnSpc>
            </a:pPr>
            <a:r>
              <a:rPr lang="en-US" sz="3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 Used:</a:t>
            </a:r>
          </a:p>
          <a:p>
            <a:pPr marL="647702" lvl="1" indent="-323851" algn="just">
              <a:lnSpc>
                <a:spcPts val="46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Population</a:t>
            </a:r>
          </a:p>
          <a:p>
            <a:pPr marL="647702" lvl="1" indent="-323851" algn="just">
              <a:lnSpc>
                <a:spcPts val="46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Reporting frequency</a:t>
            </a:r>
          </a:p>
          <a:p>
            <a:pPr marL="647702" lvl="1" indent="-323851" algn="just">
              <a:lnSpc>
                <a:spcPts val="46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Protocol used</a:t>
            </a:r>
          </a:p>
          <a:p>
            <a:pPr marL="647702" lvl="1" indent="-323851" algn="just">
              <a:lnSpc>
                <a:spcPts val="462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Inventory tool</a:t>
            </a:r>
          </a:p>
          <a:p>
            <a:pPr algn="just">
              <a:lnSpc>
                <a:spcPts val="462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5082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4196550" y="1699729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32650" y="1994629"/>
            <a:ext cx="5545184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Sample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5262" y="-488243"/>
            <a:ext cx="5281132" cy="3984854"/>
          </a:xfrm>
          <a:custGeom>
            <a:avLst/>
            <a:gdLst/>
            <a:ahLst/>
            <a:cxnLst/>
            <a:rect l="l" t="t" r="r" b="b"/>
            <a:pathLst>
              <a:path w="5281132" h="3984854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409572" y="6838370"/>
            <a:ext cx="5171931" cy="3902457"/>
          </a:xfrm>
          <a:custGeom>
            <a:avLst/>
            <a:gdLst/>
            <a:ahLst/>
            <a:cxnLst/>
            <a:rect l="l" t="t" r="r" b="b"/>
            <a:pathLst>
              <a:path w="5171931" h="3902457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96550" y="5038725"/>
            <a:ext cx="12866225" cy="251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XGBoost Regressor for emissions and disclosure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 Disclosure Score (0–3 scale)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SHAP for model interpretability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KMeans &amp; Hierarchical Clustering for city grouping</a:t>
            </a:r>
          </a:p>
        </p:txBody>
      </p:sp>
      <p:sp>
        <p:nvSpPr>
          <p:cNvPr id="9" name="Freeform 9"/>
          <p:cNvSpPr/>
          <p:nvPr/>
        </p:nvSpPr>
        <p:spPr>
          <a:xfrm>
            <a:off x="4196550" y="3086350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8"/>
                </a:lnTo>
                <a:lnTo>
                  <a:pt x="0" y="1409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52569" y="3453068"/>
            <a:ext cx="5979101" cy="73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4"/>
              </a:lnSpc>
            </a:pPr>
            <a:r>
              <a:rPr lang="en-US" sz="5200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Models &amp;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326136" y="2001139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075551" y="5143500"/>
            <a:ext cx="9635727" cy="3431903"/>
          </a:xfrm>
          <a:custGeom>
            <a:avLst/>
            <a:gdLst/>
            <a:ahLst/>
            <a:cxnLst/>
            <a:rect l="l" t="t" r="r" b="b"/>
            <a:pathLst>
              <a:path w="9635727" h="3431903">
                <a:moveTo>
                  <a:pt x="0" y="0"/>
                </a:moveTo>
                <a:lnTo>
                  <a:pt x="9635727" y="0"/>
                </a:lnTo>
                <a:lnTo>
                  <a:pt x="9635727" y="3431903"/>
                </a:lnTo>
                <a:lnTo>
                  <a:pt x="0" y="343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90549" y="2296039"/>
            <a:ext cx="491490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Result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23190" y="3658626"/>
            <a:ext cx="10550010" cy="1028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95505" lvl="1" indent="-647753" algn="ctr">
              <a:lnSpc>
                <a:spcPts val="8400"/>
              </a:lnSpc>
              <a:buFont typeface="Arial"/>
              <a:buChar char="•"/>
            </a:pPr>
            <a:r>
              <a:rPr lang="en-US" sz="6000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Predicting CO2 emission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790748" y="3368214"/>
            <a:ext cx="11190650" cy="4412623"/>
          </a:xfrm>
          <a:custGeom>
            <a:avLst/>
            <a:gdLst/>
            <a:ahLst/>
            <a:cxnLst/>
            <a:rect l="l" t="t" r="r" b="b"/>
            <a:pathLst>
              <a:path w="11190650" h="4412623">
                <a:moveTo>
                  <a:pt x="0" y="0"/>
                </a:moveTo>
                <a:lnTo>
                  <a:pt x="11190650" y="0"/>
                </a:lnTo>
                <a:lnTo>
                  <a:pt x="11190650" y="4412623"/>
                </a:lnTo>
                <a:lnTo>
                  <a:pt x="0" y="44126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6015" t="-512" b="-51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3520628" y="1754464"/>
            <a:ext cx="7131368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SHAP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70543" y="4465061"/>
            <a:ext cx="9245556" cy="3157813"/>
          </a:xfrm>
          <a:custGeom>
            <a:avLst/>
            <a:gdLst/>
            <a:ahLst/>
            <a:cxnLst/>
            <a:rect l="l" t="t" r="r" b="b"/>
            <a:pathLst>
              <a:path w="9245556" h="3157813">
                <a:moveTo>
                  <a:pt x="0" y="0"/>
                </a:moveTo>
                <a:lnTo>
                  <a:pt x="9245556" y="0"/>
                </a:lnTo>
                <a:lnTo>
                  <a:pt x="9245556" y="3157814"/>
                </a:lnTo>
                <a:lnTo>
                  <a:pt x="0" y="3157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39395" y="2543776"/>
            <a:ext cx="7895405" cy="1028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95505" lvl="1" indent="-647753" algn="ctr">
              <a:lnSpc>
                <a:spcPts val="8400"/>
              </a:lnSpc>
              <a:buFont typeface="Arial"/>
              <a:buChar char="•"/>
            </a:pPr>
            <a:r>
              <a:rPr lang="en-US" sz="6000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95789" y="3401826"/>
            <a:ext cx="7494574" cy="5856474"/>
          </a:xfrm>
          <a:custGeom>
            <a:avLst/>
            <a:gdLst/>
            <a:ahLst/>
            <a:cxnLst/>
            <a:rect l="l" t="t" r="r" b="b"/>
            <a:pathLst>
              <a:path w="7494574" h="5856474">
                <a:moveTo>
                  <a:pt x="0" y="0"/>
                </a:moveTo>
                <a:lnTo>
                  <a:pt x="7494575" y="0"/>
                </a:lnTo>
                <a:lnTo>
                  <a:pt x="7494575" y="5856474"/>
                </a:lnTo>
                <a:lnTo>
                  <a:pt x="0" y="5856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3432637" y="1754464"/>
            <a:ext cx="909278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Actual V/S Predicted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8128" y="3235340"/>
            <a:ext cx="16191744" cy="2472921"/>
          </a:xfrm>
          <a:custGeom>
            <a:avLst/>
            <a:gdLst/>
            <a:ahLst/>
            <a:cxnLst/>
            <a:rect l="l" t="t" r="r" b="b"/>
            <a:pathLst>
              <a:path w="16191744" h="2472921">
                <a:moveTo>
                  <a:pt x="0" y="0"/>
                </a:moveTo>
                <a:lnTo>
                  <a:pt x="16191744" y="0"/>
                </a:lnTo>
                <a:lnTo>
                  <a:pt x="16191744" y="2472921"/>
                </a:lnTo>
                <a:lnTo>
                  <a:pt x="0" y="2472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8128" y="6381815"/>
            <a:ext cx="13312857" cy="2942606"/>
          </a:xfrm>
          <a:custGeom>
            <a:avLst/>
            <a:gdLst/>
            <a:ahLst/>
            <a:cxnLst/>
            <a:rect l="l" t="t" r="r" b="b"/>
            <a:pathLst>
              <a:path w="13312857" h="2942606">
                <a:moveTo>
                  <a:pt x="0" y="0"/>
                </a:moveTo>
                <a:lnTo>
                  <a:pt x="13312857" y="0"/>
                </a:lnTo>
                <a:lnTo>
                  <a:pt x="13312857" y="2942605"/>
                </a:lnTo>
                <a:lnTo>
                  <a:pt x="0" y="2942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81401" y="1754464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19831" y="4155801"/>
            <a:ext cx="5224489" cy="4026817"/>
          </a:xfrm>
          <a:custGeom>
            <a:avLst/>
            <a:gdLst/>
            <a:ahLst/>
            <a:cxnLst/>
            <a:rect l="l" t="t" r="r" b="b"/>
            <a:pathLst>
              <a:path w="5224489" h="4026817">
                <a:moveTo>
                  <a:pt x="0" y="0"/>
                </a:moveTo>
                <a:lnTo>
                  <a:pt x="5224489" y="0"/>
                </a:lnTo>
                <a:lnTo>
                  <a:pt x="5224489" y="4026817"/>
                </a:lnTo>
                <a:lnTo>
                  <a:pt x="0" y="4026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8597218" y="4047248"/>
            <a:ext cx="5365328" cy="4135370"/>
          </a:xfrm>
          <a:custGeom>
            <a:avLst/>
            <a:gdLst/>
            <a:ahLst/>
            <a:cxnLst/>
            <a:rect l="l" t="t" r="r" b="b"/>
            <a:pathLst>
              <a:path w="5365328" h="4135370">
                <a:moveTo>
                  <a:pt x="0" y="0"/>
                </a:moveTo>
                <a:lnTo>
                  <a:pt x="5365327" y="0"/>
                </a:lnTo>
                <a:lnTo>
                  <a:pt x="5365327" y="4135370"/>
                </a:lnTo>
                <a:lnTo>
                  <a:pt x="0" y="4135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2385040" y="1690391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2064" y="8677910"/>
            <a:ext cx="344633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2569" y="3879121"/>
            <a:ext cx="6609712" cy="4558807"/>
          </a:xfrm>
          <a:custGeom>
            <a:avLst/>
            <a:gdLst/>
            <a:ahLst/>
            <a:cxnLst/>
            <a:rect l="l" t="t" r="r" b="b"/>
            <a:pathLst>
              <a:path w="6609712" h="4558807">
                <a:moveTo>
                  <a:pt x="0" y="0"/>
                </a:moveTo>
                <a:lnTo>
                  <a:pt x="6609712" y="0"/>
                </a:lnTo>
                <a:lnTo>
                  <a:pt x="6609712" y="4558807"/>
                </a:lnTo>
                <a:lnTo>
                  <a:pt x="0" y="4558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55823" y="2924959"/>
            <a:ext cx="8749055" cy="3587113"/>
          </a:xfrm>
          <a:custGeom>
            <a:avLst/>
            <a:gdLst/>
            <a:ahLst/>
            <a:cxnLst/>
            <a:rect l="l" t="t" r="r" b="b"/>
            <a:pathLst>
              <a:path w="8749055" h="3587113">
                <a:moveTo>
                  <a:pt x="0" y="0"/>
                </a:moveTo>
                <a:lnTo>
                  <a:pt x="8749055" y="0"/>
                </a:lnTo>
                <a:lnTo>
                  <a:pt x="8749055" y="3587112"/>
                </a:lnTo>
                <a:lnTo>
                  <a:pt x="0" y="35871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7455823" y="6808726"/>
            <a:ext cx="9392654" cy="2547758"/>
          </a:xfrm>
          <a:custGeom>
            <a:avLst/>
            <a:gdLst/>
            <a:ahLst/>
            <a:cxnLst/>
            <a:rect l="l" t="t" r="r" b="b"/>
            <a:pathLst>
              <a:path w="9392654" h="2547758">
                <a:moveTo>
                  <a:pt x="0" y="0"/>
                </a:moveTo>
                <a:lnTo>
                  <a:pt x="9392655" y="0"/>
                </a:lnTo>
                <a:lnTo>
                  <a:pt x="9392655" y="2547757"/>
                </a:lnTo>
                <a:lnTo>
                  <a:pt x="0" y="25477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2385040" y="1690391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8354" y="8810013"/>
            <a:ext cx="5177483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Categorial Distributions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374688" y="2942443"/>
            <a:ext cx="7333562" cy="5559740"/>
          </a:xfrm>
          <a:custGeom>
            <a:avLst/>
            <a:gdLst/>
            <a:ahLst/>
            <a:cxnLst/>
            <a:rect l="l" t="t" r="r" b="b"/>
            <a:pathLst>
              <a:path w="7333562" h="5559740">
                <a:moveTo>
                  <a:pt x="0" y="0"/>
                </a:moveTo>
                <a:lnTo>
                  <a:pt x="7333562" y="0"/>
                </a:lnTo>
                <a:lnTo>
                  <a:pt x="7333562" y="5559741"/>
                </a:lnTo>
                <a:lnTo>
                  <a:pt x="0" y="5559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385040" y="1690391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34" y="8934767"/>
            <a:ext cx="350865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2D-Distributions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2567" y="3508325"/>
            <a:ext cx="6049452" cy="2873490"/>
          </a:xfrm>
          <a:custGeom>
            <a:avLst/>
            <a:gdLst/>
            <a:ahLst/>
            <a:cxnLst/>
            <a:rect l="l" t="t" r="r" b="b"/>
            <a:pathLst>
              <a:path w="6049452" h="2873490">
                <a:moveTo>
                  <a:pt x="0" y="0"/>
                </a:moveTo>
                <a:lnTo>
                  <a:pt x="6049453" y="0"/>
                </a:lnTo>
                <a:lnTo>
                  <a:pt x="6049453" y="2873490"/>
                </a:lnTo>
                <a:lnTo>
                  <a:pt x="0" y="2873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720504" y="6646937"/>
            <a:ext cx="7487778" cy="2611363"/>
          </a:xfrm>
          <a:custGeom>
            <a:avLst/>
            <a:gdLst/>
            <a:ahLst/>
            <a:cxnLst/>
            <a:rect l="l" t="t" r="r" b="b"/>
            <a:pathLst>
              <a:path w="7487778" h="2611363">
                <a:moveTo>
                  <a:pt x="0" y="0"/>
                </a:moveTo>
                <a:lnTo>
                  <a:pt x="7487778" y="0"/>
                </a:lnTo>
                <a:lnTo>
                  <a:pt x="7487778" y="2611363"/>
                </a:lnTo>
                <a:lnTo>
                  <a:pt x="0" y="26113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8243598" y="3508325"/>
            <a:ext cx="9571519" cy="2500559"/>
          </a:xfrm>
          <a:custGeom>
            <a:avLst/>
            <a:gdLst/>
            <a:ahLst/>
            <a:cxnLst/>
            <a:rect l="l" t="t" r="r" b="b"/>
            <a:pathLst>
              <a:path w="9571519" h="2500559">
                <a:moveTo>
                  <a:pt x="0" y="0"/>
                </a:moveTo>
                <a:lnTo>
                  <a:pt x="9571520" y="0"/>
                </a:lnTo>
                <a:lnTo>
                  <a:pt x="9571520" y="2500559"/>
                </a:lnTo>
                <a:lnTo>
                  <a:pt x="0" y="2500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9816368" y="6205960"/>
            <a:ext cx="6425979" cy="3052340"/>
          </a:xfrm>
          <a:custGeom>
            <a:avLst/>
            <a:gdLst/>
            <a:ahLst/>
            <a:cxnLst/>
            <a:rect l="l" t="t" r="r" b="b"/>
            <a:pathLst>
              <a:path w="6425979" h="3052340">
                <a:moveTo>
                  <a:pt x="0" y="0"/>
                </a:moveTo>
                <a:lnTo>
                  <a:pt x="6425980" y="0"/>
                </a:lnTo>
                <a:lnTo>
                  <a:pt x="6425980" y="3052340"/>
                </a:lnTo>
                <a:lnTo>
                  <a:pt x="0" y="30523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385040" y="1690391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24600" y="9375389"/>
            <a:ext cx="302709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 Series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14587" y="4322554"/>
            <a:ext cx="6951933" cy="3814704"/>
          </a:xfrm>
          <a:custGeom>
            <a:avLst/>
            <a:gdLst/>
            <a:ahLst/>
            <a:cxnLst/>
            <a:rect l="l" t="t" r="r" b="b"/>
            <a:pathLst>
              <a:path w="6951933" h="3814704">
                <a:moveTo>
                  <a:pt x="0" y="0"/>
                </a:moveTo>
                <a:lnTo>
                  <a:pt x="6951933" y="0"/>
                </a:lnTo>
                <a:lnTo>
                  <a:pt x="6951933" y="3814703"/>
                </a:lnTo>
                <a:lnTo>
                  <a:pt x="0" y="3814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9306078" y="4322554"/>
            <a:ext cx="6951933" cy="3814704"/>
          </a:xfrm>
          <a:custGeom>
            <a:avLst/>
            <a:gdLst/>
            <a:ahLst/>
            <a:cxnLst/>
            <a:rect l="l" t="t" r="r" b="b"/>
            <a:pathLst>
              <a:path w="6951933" h="3814704">
                <a:moveTo>
                  <a:pt x="0" y="0"/>
                </a:moveTo>
                <a:lnTo>
                  <a:pt x="6951933" y="0"/>
                </a:lnTo>
                <a:lnTo>
                  <a:pt x="6951933" y="3814703"/>
                </a:lnTo>
                <a:lnTo>
                  <a:pt x="0" y="3814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2385040" y="2074875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8959" y="8622973"/>
            <a:ext cx="162768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29697" y="3572464"/>
            <a:ext cx="7536411" cy="4653734"/>
          </a:xfrm>
          <a:custGeom>
            <a:avLst/>
            <a:gdLst/>
            <a:ahLst/>
            <a:cxnLst/>
            <a:rect l="l" t="t" r="r" b="b"/>
            <a:pathLst>
              <a:path w="7536411" h="4653734">
                <a:moveTo>
                  <a:pt x="0" y="0"/>
                </a:moveTo>
                <a:lnTo>
                  <a:pt x="7536411" y="0"/>
                </a:lnTo>
                <a:lnTo>
                  <a:pt x="7536411" y="4653734"/>
                </a:lnTo>
                <a:lnTo>
                  <a:pt x="0" y="46537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9144000" y="3522084"/>
            <a:ext cx="6780027" cy="4754494"/>
          </a:xfrm>
          <a:custGeom>
            <a:avLst/>
            <a:gdLst/>
            <a:ahLst/>
            <a:cxnLst/>
            <a:rect l="l" t="t" r="r" b="b"/>
            <a:pathLst>
              <a:path w="6780027" h="4754494">
                <a:moveTo>
                  <a:pt x="0" y="0"/>
                </a:moveTo>
                <a:lnTo>
                  <a:pt x="6780027" y="0"/>
                </a:lnTo>
                <a:lnTo>
                  <a:pt x="6780027" y="4754494"/>
                </a:lnTo>
                <a:lnTo>
                  <a:pt x="0" y="4754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2385040" y="1690391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04734" y="8677910"/>
            <a:ext cx="624906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2D-Categorial Distributions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3374" y="3462973"/>
            <a:ext cx="10231297" cy="3274015"/>
          </a:xfrm>
          <a:custGeom>
            <a:avLst/>
            <a:gdLst/>
            <a:ahLst/>
            <a:cxnLst/>
            <a:rect l="l" t="t" r="r" b="b"/>
            <a:pathLst>
              <a:path w="10231297" h="3274015">
                <a:moveTo>
                  <a:pt x="0" y="0"/>
                </a:moveTo>
                <a:lnTo>
                  <a:pt x="10231297" y="0"/>
                </a:lnTo>
                <a:lnTo>
                  <a:pt x="10231297" y="3274015"/>
                </a:lnTo>
                <a:lnTo>
                  <a:pt x="0" y="32740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483374" y="7258115"/>
            <a:ext cx="11301259" cy="1850581"/>
          </a:xfrm>
          <a:custGeom>
            <a:avLst/>
            <a:gdLst/>
            <a:ahLst/>
            <a:cxnLst/>
            <a:rect l="l" t="t" r="r" b="b"/>
            <a:pathLst>
              <a:path w="11301259" h="1850581">
                <a:moveTo>
                  <a:pt x="0" y="0"/>
                </a:moveTo>
                <a:lnTo>
                  <a:pt x="11301258" y="0"/>
                </a:lnTo>
                <a:lnTo>
                  <a:pt x="11301258" y="1850581"/>
                </a:lnTo>
                <a:lnTo>
                  <a:pt x="0" y="18505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9144000" y="2277476"/>
            <a:ext cx="8052767" cy="928323"/>
          </a:xfrm>
          <a:custGeom>
            <a:avLst/>
            <a:gdLst/>
            <a:ahLst/>
            <a:cxnLst/>
            <a:rect l="l" t="t" r="r" b="b"/>
            <a:pathLst>
              <a:path w="8052767" h="928323">
                <a:moveTo>
                  <a:pt x="0" y="0"/>
                </a:moveTo>
                <a:lnTo>
                  <a:pt x="8052767" y="0"/>
                </a:lnTo>
                <a:lnTo>
                  <a:pt x="8052767" y="928322"/>
                </a:lnTo>
                <a:lnTo>
                  <a:pt x="0" y="92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589" b="-258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1083089" y="4083324"/>
            <a:ext cx="6626097" cy="2120351"/>
          </a:xfrm>
          <a:custGeom>
            <a:avLst/>
            <a:gdLst/>
            <a:ahLst/>
            <a:cxnLst/>
            <a:rect l="l" t="t" r="r" b="b"/>
            <a:pathLst>
              <a:path w="6626097" h="2120351">
                <a:moveTo>
                  <a:pt x="0" y="0"/>
                </a:moveTo>
                <a:lnTo>
                  <a:pt x="6626097" y="0"/>
                </a:lnTo>
                <a:lnTo>
                  <a:pt x="6626097" y="2120352"/>
                </a:lnTo>
                <a:lnTo>
                  <a:pt x="0" y="21203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3577425" y="923925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57966" y="7811233"/>
            <a:ext cx="5076428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Faceted Distributions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63207" y="4347511"/>
            <a:ext cx="9349684" cy="3433327"/>
          </a:xfrm>
          <a:custGeom>
            <a:avLst/>
            <a:gdLst/>
            <a:ahLst/>
            <a:cxnLst/>
            <a:rect l="l" t="t" r="r" b="b"/>
            <a:pathLst>
              <a:path w="9349684" h="3433327">
                <a:moveTo>
                  <a:pt x="0" y="0"/>
                </a:moveTo>
                <a:lnTo>
                  <a:pt x="9349684" y="0"/>
                </a:lnTo>
                <a:lnTo>
                  <a:pt x="9349684" y="3433326"/>
                </a:lnTo>
                <a:lnTo>
                  <a:pt x="0" y="3433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34604" y="2381266"/>
            <a:ext cx="13312857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Disclosure Score Calculation 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152412" y="4429207"/>
            <a:ext cx="12669783" cy="3351631"/>
          </a:xfrm>
          <a:custGeom>
            <a:avLst/>
            <a:gdLst/>
            <a:ahLst/>
            <a:cxnLst/>
            <a:rect l="l" t="t" r="r" b="b"/>
            <a:pathLst>
              <a:path w="12669783" h="3351631">
                <a:moveTo>
                  <a:pt x="0" y="0"/>
                </a:moveTo>
                <a:lnTo>
                  <a:pt x="12669784" y="0"/>
                </a:lnTo>
                <a:lnTo>
                  <a:pt x="12669784" y="3351630"/>
                </a:lnTo>
                <a:lnTo>
                  <a:pt x="0" y="3351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35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3712485" y="2562813"/>
            <a:ext cx="7131368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SHAP Summary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306349" y="3138174"/>
            <a:ext cx="7494574" cy="5856474"/>
          </a:xfrm>
          <a:custGeom>
            <a:avLst/>
            <a:gdLst/>
            <a:ahLst/>
            <a:cxnLst/>
            <a:rect l="l" t="t" r="r" b="b"/>
            <a:pathLst>
              <a:path w="7494574" h="5856474">
                <a:moveTo>
                  <a:pt x="0" y="0"/>
                </a:moveTo>
                <a:lnTo>
                  <a:pt x="7494575" y="0"/>
                </a:lnTo>
                <a:lnTo>
                  <a:pt x="7494575" y="5856475"/>
                </a:lnTo>
                <a:lnTo>
                  <a:pt x="0" y="5856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4122966" y="1622438"/>
            <a:ext cx="8677958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Clustering of Cities        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11278" y="4982792"/>
            <a:ext cx="4216232" cy="2798045"/>
          </a:xfrm>
          <a:custGeom>
            <a:avLst/>
            <a:gdLst/>
            <a:ahLst/>
            <a:cxnLst/>
            <a:rect l="l" t="t" r="r" b="b"/>
            <a:pathLst>
              <a:path w="4216232" h="2798045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540716" y="2311677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05789" y="-488243"/>
            <a:ext cx="5381659" cy="4060706"/>
          </a:xfrm>
          <a:custGeom>
            <a:avLst/>
            <a:gdLst/>
            <a:ahLst/>
            <a:cxnLst/>
            <a:rect l="l" t="t" r="r" b="b"/>
            <a:pathLst>
              <a:path w="5381659" h="4060706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031403" y="6736988"/>
            <a:ext cx="5581585" cy="4211560"/>
          </a:xfrm>
          <a:custGeom>
            <a:avLst/>
            <a:gdLst/>
            <a:ahLst/>
            <a:cxnLst/>
            <a:rect l="l" t="t" r="r" b="b"/>
            <a:pathLst>
              <a:path w="5581585" h="4211560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410019" y="3235682"/>
            <a:ext cx="11301259" cy="5608250"/>
          </a:xfrm>
          <a:custGeom>
            <a:avLst/>
            <a:gdLst/>
            <a:ahLst/>
            <a:cxnLst/>
            <a:rect l="l" t="t" r="r" b="b"/>
            <a:pathLst>
              <a:path w="11301259" h="5608250">
                <a:moveTo>
                  <a:pt x="0" y="0"/>
                </a:moveTo>
                <a:lnTo>
                  <a:pt x="11301259" y="0"/>
                </a:lnTo>
                <a:lnTo>
                  <a:pt x="11301259" y="5608250"/>
                </a:lnTo>
                <a:lnTo>
                  <a:pt x="0" y="560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056331" y="1937578"/>
            <a:ext cx="15202969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395" lvl="1" indent="-647698" algn="ctr">
              <a:lnSpc>
                <a:spcPts val="8399"/>
              </a:lnSpc>
              <a:buFont typeface="Arial"/>
              <a:buChar char="•"/>
            </a:pPr>
            <a:r>
              <a:rPr lang="en-US" sz="5999" b="1">
                <a:solidFill>
                  <a:srgbClr val="2E499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Dendrogram(Hierarchical Clustering)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7673" y="793797"/>
            <a:ext cx="8638773" cy="5733004"/>
          </a:xfrm>
          <a:custGeom>
            <a:avLst/>
            <a:gdLst/>
            <a:ahLst/>
            <a:cxnLst/>
            <a:rect l="l" t="t" r="r" b="b"/>
            <a:pathLst>
              <a:path w="8638773" h="5733004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168815" y="2927354"/>
            <a:ext cx="8182690" cy="5430330"/>
          </a:xfrm>
          <a:custGeom>
            <a:avLst/>
            <a:gdLst/>
            <a:ahLst/>
            <a:cxnLst/>
            <a:rect l="l" t="t" r="r" b="b"/>
            <a:pathLst>
              <a:path w="8182690" h="543033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9859" y="394684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68815" y="6526800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-488243"/>
            <a:ext cx="4670423" cy="3524046"/>
          </a:xfrm>
          <a:custGeom>
            <a:avLst/>
            <a:gdLst/>
            <a:ahLst/>
            <a:cxnLst/>
            <a:rect l="l" t="t" r="r" b="b"/>
            <a:pathLst>
              <a:path w="4670423" h="3524046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3947662" y="7300977"/>
            <a:ext cx="4521303" cy="3411529"/>
          </a:xfrm>
          <a:custGeom>
            <a:avLst/>
            <a:gdLst/>
            <a:ahLst/>
            <a:cxnLst/>
            <a:rect l="l" t="t" r="r" b="b"/>
            <a:pathLst>
              <a:path w="4521303" h="3411529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15596" y="345593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72210" y="2139565"/>
            <a:ext cx="4914903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2694043" y="6238477"/>
            <a:ext cx="12878361" cy="2482011"/>
          </a:xfrm>
          <a:custGeom>
            <a:avLst/>
            <a:gdLst/>
            <a:ahLst/>
            <a:cxnLst/>
            <a:rect l="l" t="t" r="r" b="b"/>
            <a:pathLst>
              <a:path w="12878361" h="248201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29661" y="3706152"/>
            <a:ext cx="9894900" cy="251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proves feasibility, interpretability, and scalability in predicting city-level emissions and disclosure behavior using real-world data.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9661" y="6488692"/>
            <a:ext cx="9894900" cy="251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Establishes a solid foundation for full-scale research on urban climate transparency across Indian cities using advanced ML techniques.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7075" y="3267488"/>
            <a:ext cx="1056248" cy="177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sz="6438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97333" y="6194269"/>
            <a:ext cx="1055989" cy="177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092"/>
              </a:lnSpc>
            </a:pPr>
            <a:r>
              <a:rPr lang="en-US" sz="6436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144000" y="1355173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4145" y="0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898068" y="2179650"/>
            <a:ext cx="10042068" cy="6664282"/>
          </a:xfrm>
          <a:custGeom>
            <a:avLst/>
            <a:gdLst/>
            <a:ahLst/>
            <a:cxnLst/>
            <a:rect l="l" t="t" r="r" b="b"/>
            <a:pathLst>
              <a:path w="10042068" h="6664282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748364" y="8843932"/>
            <a:ext cx="20409103" cy="1443068"/>
          </a:xfrm>
          <a:custGeom>
            <a:avLst/>
            <a:gdLst/>
            <a:ahLst/>
            <a:cxnLst/>
            <a:rect l="l" t="t" r="r" b="b"/>
            <a:pathLst>
              <a:path w="20409103" h="1443068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69859" y="5618309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7997" y="3253490"/>
            <a:ext cx="10792006" cy="236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71"/>
              </a:lnSpc>
            </a:pPr>
            <a:r>
              <a:rPr lang="en-US" sz="16889" b="1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34754" y="5182323"/>
            <a:ext cx="3923292" cy="2048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39"/>
              </a:lnSpc>
            </a:pPr>
            <a:r>
              <a:rPr lang="en-US" sz="14616" b="1" dirty="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You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-1050468" y="1355173"/>
            <a:ext cx="5118141" cy="3396585"/>
          </a:xfrm>
          <a:custGeom>
            <a:avLst/>
            <a:gdLst/>
            <a:ahLst/>
            <a:cxnLst/>
            <a:rect l="l" t="t" r="r" b="b"/>
            <a:pathLst>
              <a:path w="5118141" h="3396585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379</Words>
  <Application>Microsoft Office PowerPoint</Application>
  <PresentationFormat>Custom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Comic Sans Bold</vt:lpstr>
      <vt:lpstr>Calibri</vt:lpstr>
      <vt:lpstr>Montserrat</vt:lpstr>
      <vt:lpstr>Canva Sans Bold</vt:lpstr>
      <vt:lpstr>Montserrat Bold</vt:lpstr>
      <vt:lpstr>Aileron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Grey Simple Geometric Research Project Presentation</dc:title>
  <cp:lastModifiedBy>Siddhi Gupta</cp:lastModifiedBy>
  <cp:revision>2</cp:revision>
  <dcterms:created xsi:type="dcterms:W3CDTF">2006-08-16T00:00:00Z</dcterms:created>
  <dcterms:modified xsi:type="dcterms:W3CDTF">2025-06-21T16:10:32Z</dcterms:modified>
  <dc:identifier>DAGp-AT2mIY</dc:identifier>
</cp:coreProperties>
</file>